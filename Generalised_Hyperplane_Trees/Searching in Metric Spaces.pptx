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71" r:id="rId6"/>
    <p:sldId id="272" r:id="rId7"/>
    <p:sldId id="261" r:id="rId8"/>
    <p:sldId id="260" r:id="rId9"/>
    <p:sldId id="264" r:id="rId10"/>
    <p:sldId id="265" r:id="rId11"/>
    <p:sldId id="273" r:id="rId12"/>
    <p:sldId id="262" r:id="rId13"/>
    <p:sldId id="263" r:id="rId14"/>
    <p:sldId id="266" r:id="rId15"/>
    <p:sldId id="267" r:id="rId16"/>
    <p:sldId id="268" r:id="rId17"/>
    <p:sldId id="269" r:id="rId18"/>
    <p:sldId id="270" r:id="rId19"/>
    <p:sldId id="274" r:id="rId20"/>
    <p:sldId id="275" r:id="rId21"/>
    <p:sldId id="276" r:id="rId22"/>
    <p:sldId id="278" r:id="rId23"/>
    <p:sldId id="277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262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479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030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330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985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66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203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87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080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391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855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50271-0AAB-4C94-A81B-1467CBA4DF2C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4322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F8D3-B461-F853-E329-83FA352BCC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Searching in Metric Spaces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CCB675-37D0-E418-A937-AE68DC628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GENERALIZED HYPERPLANE TREES</a:t>
            </a:r>
          </a:p>
          <a:p>
            <a:endParaRPr lang="en-US"/>
          </a:p>
          <a:p>
            <a:r>
              <a:rPr lang="en-US"/>
              <a:t>Saransh Yadav</a:t>
            </a:r>
          </a:p>
          <a:p>
            <a:r>
              <a:rPr lang="en-US"/>
              <a:t>MA24BTECH11022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326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4BB63-8247-6202-B768-91A34DE5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GENERALISED HYPERPLANE TREES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3BFC6-A293-97C4-A0F9-56A14C5D3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1825625"/>
            <a:ext cx="5535561" cy="4351338"/>
          </a:xfrm>
        </p:spPr>
        <p:txBody>
          <a:bodyPr/>
          <a:lstStyle/>
          <a:p>
            <a:r>
              <a:rPr lang="en-US"/>
              <a:t>Choose pivots from the dataset</a:t>
            </a:r>
          </a:p>
          <a:p>
            <a:r>
              <a:rPr lang="en-US"/>
              <a:t>Partition the dataset depending on closeness to those pivots</a:t>
            </a:r>
          </a:p>
          <a:p>
            <a:endParaRPr lang="en-US"/>
          </a:p>
          <a:p>
            <a:r>
              <a:rPr lang="en-US"/>
              <a:t>Example Dataset:-</a:t>
            </a:r>
          </a:p>
          <a:p>
            <a:pPr marL="0" indent="0">
              <a:buNone/>
            </a:pPr>
            <a:r>
              <a:rPr lang="en-US" altLang="en-US">
                <a:latin typeface="Google Sans Text"/>
              </a:rPr>
              <a:t>   [6, 9, 1, 5, 10, 3, 8, 2, 4, 7,11,74,59]</a:t>
            </a:r>
          </a:p>
          <a:p>
            <a:pPr marL="0" indent="0">
              <a:buNone/>
            </a:pPr>
            <a:endParaRPr lang="en-US" altLang="en-US">
              <a:latin typeface="Arial" panose="020B0604020202020204" pitchFamily="34" charset="0"/>
            </a:endParaRPr>
          </a:p>
          <a:p>
            <a:endParaRPr lang="en-IN"/>
          </a:p>
          <a:p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571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864D0-C5C2-87EA-F18E-B99106455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/>
              <a:t>DATASET – [3, 11, 1, 5, 7, 9, 2, 6, 4, 10, 74, 59]</a:t>
            </a:r>
            <a:endParaRPr lang="en-IN" sz="4000" b="1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7B7FD18-77F0-8DEF-E974-94C4405D88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39" y="1240796"/>
            <a:ext cx="9212825" cy="553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081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A3179-B6D3-9644-302D-154C44E4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286"/>
            <a:ext cx="10515600" cy="1325563"/>
          </a:xfrm>
        </p:spPr>
        <p:txBody>
          <a:bodyPr/>
          <a:lstStyle/>
          <a:p>
            <a:pPr algn="ctr"/>
            <a:r>
              <a:rPr lang="en-US" b="1"/>
              <a:t>SEARCHING FOR A NEIGHBOUR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823C7-5A2F-FF17-810D-4715E7BFB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91" y="3313471"/>
            <a:ext cx="7322574" cy="3544529"/>
          </a:xfrm>
        </p:spPr>
        <p:txBody>
          <a:bodyPr>
            <a:normAutofit/>
          </a:bodyPr>
          <a:lstStyle/>
          <a:p>
            <a:r>
              <a:rPr lang="en-US"/>
              <a:t>QUERY-1</a:t>
            </a:r>
          </a:p>
          <a:p>
            <a:pPr marL="0" indent="0">
              <a:buNone/>
            </a:pPr>
            <a:r>
              <a:rPr lang="en-US"/>
              <a:t>   q = 5.7</a:t>
            </a:r>
            <a:endParaRPr lang="en-US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   Nearest Neighbour – 6 (not a pivot)</a:t>
            </a:r>
          </a:p>
          <a:p>
            <a:pPr marL="0" indent="0">
              <a:buNone/>
            </a:pPr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QUERY-2</a:t>
            </a: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   q = 10.6</a:t>
            </a: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   Nearest Neighbour – 11 (which is a pivot)</a:t>
            </a:r>
            <a:endParaRPr lang="en-US"/>
          </a:p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A1131E-2CA2-663D-B7DC-E229C315E454}"/>
              </a:ext>
            </a:extLst>
          </p:cNvPr>
          <p:cNvSpPr txBox="1"/>
          <p:nvPr/>
        </p:nvSpPr>
        <p:spPr>
          <a:xfrm>
            <a:off x="317091" y="1286697"/>
            <a:ext cx="66244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O(log N) time</a:t>
            </a:r>
          </a:p>
          <a:p>
            <a:r>
              <a:rPr lang="en-US" sz="2400"/>
              <a:t>if d(q,p1) – r &lt;= d(q,p2) + r :</a:t>
            </a:r>
          </a:p>
          <a:p>
            <a:r>
              <a:rPr lang="en-US" sz="2400"/>
              <a:t>	explore left subtree</a:t>
            </a:r>
          </a:p>
          <a:p>
            <a:r>
              <a:rPr lang="en-US" sz="2400"/>
              <a:t>if d(q,p2) – r &lt;= d(q,p1) + r :</a:t>
            </a:r>
          </a:p>
          <a:p>
            <a:r>
              <a:rPr lang="en-US" sz="2400"/>
              <a:t>       explore right subtree</a:t>
            </a:r>
            <a:endParaRPr lang="en-IN" sz="2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FD1EBB-F386-2063-5A6E-B6333AEAF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5149" y="1086729"/>
            <a:ext cx="3287132" cy="34807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937948-2B03-D35D-7515-246D49BE6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872" y="4700749"/>
            <a:ext cx="4185686" cy="202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852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0E56B-29D1-0F78-F68D-F9429F8E9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TIME AND SPACE TO BUILD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91824-33CF-AAE2-3F77-DF35BB388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TIME</a:t>
            </a:r>
          </a:p>
          <a:p>
            <a:pPr marL="0" indent="0">
              <a:buNone/>
            </a:pPr>
            <a:r>
              <a:rPr lang="en-US"/>
              <a:t>   Expected – O(ND logN)</a:t>
            </a:r>
          </a:p>
          <a:p>
            <a:pPr marL="0" indent="0">
              <a:buNone/>
            </a:pPr>
            <a:r>
              <a:rPr lang="en-US"/>
              <a:t>   Worst – O(N</a:t>
            </a:r>
            <a:r>
              <a:rPr lang="en-US" baseline="30000"/>
              <a:t>2</a:t>
            </a:r>
            <a:r>
              <a:rPr lang="en-US"/>
              <a:t> D)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SPACE</a:t>
            </a:r>
          </a:p>
          <a:p>
            <a:pPr marL="0" indent="0">
              <a:buNone/>
            </a:pPr>
            <a:r>
              <a:rPr lang="en-US"/>
              <a:t>   Expected – O(ND)</a:t>
            </a:r>
          </a:p>
          <a:p>
            <a:pPr marL="0" indent="0">
              <a:buNone/>
            </a:pPr>
            <a:r>
              <a:rPr lang="en-US"/>
              <a:t>   Worst – O(ND)</a:t>
            </a:r>
          </a:p>
        </p:txBody>
      </p:sp>
    </p:spTree>
    <p:extLst>
      <p:ext uri="{BB962C8B-B14F-4D97-AF65-F5344CB8AC3E}">
        <p14:creationId xmlns:p14="http://schemas.microsoft.com/office/powerpoint/2010/main" val="1890836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ADA79-90E0-2E83-AD38-5D1BBE803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TIME AND SPACE TO SEARCH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BBAC2-B1AE-9B8A-A01E-705A09141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TIME</a:t>
            </a:r>
          </a:p>
          <a:p>
            <a:pPr marL="0" indent="0">
              <a:buNone/>
            </a:pPr>
            <a:r>
              <a:rPr lang="en-US"/>
              <a:t>   Expected – O(D logN)</a:t>
            </a:r>
          </a:p>
          <a:p>
            <a:pPr marL="0" indent="0">
              <a:buNone/>
            </a:pPr>
            <a:r>
              <a:rPr lang="en-US"/>
              <a:t>   Worst – O(N D)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SPACE</a:t>
            </a:r>
          </a:p>
          <a:p>
            <a:pPr marL="0" indent="0">
              <a:buNone/>
            </a:pPr>
            <a:r>
              <a:rPr lang="en-US"/>
              <a:t>   Expected – O(log N)</a:t>
            </a:r>
          </a:p>
          <a:p>
            <a:pPr marL="0" indent="0">
              <a:buNone/>
            </a:pPr>
            <a:r>
              <a:rPr lang="en-US"/>
              <a:t>   Worst – O(N)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163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89BC7-2D00-074F-E534-D9CE08A3C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INSERTING AND DELETING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451D3-667C-CD61-F627-2F87A61B2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Inserting – </a:t>
            </a:r>
          </a:p>
          <a:p>
            <a:pPr marL="0" indent="0">
              <a:buNone/>
            </a:pPr>
            <a:r>
              <a:rPr lang="en-US"/>
              <a:t>   Similar to searching, float the new point to a leaf node</a:t>
            </a:r>
          </a:p>
          <a:p>
            <a:pPr marL="0" indent="0">
              <a:buNone/>
            </a:pPr>
            <a:r>
              <a:rPr lang="en-US"/>
              <a:t>   Split the leaf, if it breaches the threshold of leaf size</a:t>
            </a:r>
          </a:p>
          <a:p>
            <a:pPr marL="0" indent="0">
              <a:buNone/>
            </a:pPr>
            <a:r>
              <a:rPr lang="en-US"/>
              <a:t>   </a:t>
            </a:r>
          </a:p>
          <a:p>
            <a:r>
              <a:rPr lang="en-US"/>
              <a:t>Deleting – </a:t>
            </a:r>
          </a:p>
          <a:p>
            <a:pPr marL="0" indent="0">
              <a:buNone/>
            </a:pPr>
            <a:r>
              <a:rPr lang="en-US"/>
              <a:t>   If point to delete is not a pivot – easy, just delete it from the array</a:t>
            </a:r>
            <a:r>
              <a:rPr lang="en-IN"/>
              <a:t> </a:t>
            </a:r>
          </a:p>
          <a:p>
            <a:pPr marL="0" indent="0">
              <a:buNone/>
            </a:pPr>
            <a:r>
              <a:rPr lang="en-IN"/>
              <a:t>   If it is a pivot?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27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7BB9-8D19-9E64-36E7-1934AEC5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FACTORS AFFECTING GHT’s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9A590-FE0F-61B1-E981-D775D976C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Choice of Pivots</a:t>
            </a:r>
          </a:p>
          <a:p>
            <a:pPr marL="0" indent="0">
              <a:buNone/>
            </a:pPr>
            <a:r>
              <a:rPr lang="en-US"/>
              <a:t>   Pivots should partition the dataset</a:t>
            </a:r>
          </a:p>
          <a:p>
            <a:pPr marL="0" indent="0">
              <a:buNone/>
            </a:pPr>
            <a:r>
              <a:rPr lang="en-US"/>
              <a:t>   into nearly equal halves.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Dimension of Dataset</a:t>
            </a:r>
          </a:p>
          <a:p>
            <a:r>
              <a:rPr lang="en-US"/>
              <a:t>Cardinality of Dataset</a:t>
            </a: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242303-A41E-2880-CBF3-4C6F1D55D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463" y="365125"/>
            <a:ext cx="5848350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779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C603A-A9C3-8A26-7CFE-72C318DF3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SOME VARIATIONS OF GHT’s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D46E3-6451-B43C-32FB-BB7BE2240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Random Pivoting</a:t>
            </a:r>
          </a:p>
          <a:p>
            <a:r>
              <a:rPr lang="en-US"/>
              <a:t>Reusing Pivots</a:t>
            </a:r>
          </a:p>
          <a:p>
            <a:r>
              <a:rPr lang="en-US"/>
              <a:t>Maximum Separation</a:t>
            </a:r>
          </a:p>
          <a:p>
            <a:r>
              <a:rPr lang="en-US"/>
              <a:t>GNAT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116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B5329-4293-7D20-24A1-FAE447685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40845" cy="1325563"/>
          </a:xfrm>
        </p:spPr>
        <p:txBody>
          <a:bodyPr/>
          <a:lstStyle/>
          <a:p>
            <a:r>
              <a:rPr lang="en-US" b="1"/>
              <a:t>GEOMETRIC NEAR-NEIGHBOUR ACCESS TREES</a:t>
            </a:r>
            <a:endParaRPr lang="en-IN" b="1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E1F88A-CB7A-EE47-4690-5A6C00C6D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294626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E6ADAF-F767-CBF9-BD1C-E8BD9EB4AD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084" y="1690688"/>
            <a:ext cx="6665948" cy="24978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FEECBC-A9D2-57BE-0DF0-D961DF72FA8C}"/>
              </a:ext>
            </a:extLst>
          </p:cNvPr>
          <p:cNvSpPr txBox="1"/>
          <p:nvPr/>
        </p:nvSpPr>
        <p:spPr>
          <a:xfrm>
            <a:off x="6516393" y="4797980"/>
            <a:ext cx="44345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GNAT with 4 pivots</a:t>
            </a:r>
          </a:p>
          <a:p>
            <a:pPr algn="ctr"/>
            <a:r>
              <a:rPr lang="en-US" sz="2400"/>
              <a:t> (per internal node)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773178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19462-5EDC-0C08-0AF1-F717B0A5F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 AND SEARCH TIMES FOR GNAT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864F1-4BF4-41D2-FD12-F026AC918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5257800" cy="4351338"/>
          </a:xfrm>
        </p:spPr>
        <p:txBody>
          <a:bodyPr/>
          <a:lstStyle/>
          <a:p>
            <a:r>
              <a:rPr lang="en-US"/>
              <a:t>TIME</a:t>
            </a:r>
          </a:p>
          <a:p>
            <a:pPr marL="0" indent="0">
              <a:buNone/>
            </a:pPr>
            <a:r>
              <a:rPr lang="en-US"/>
              <a:t>   Expected – O(NMD log</a:t>
            </a:r>
            <a:r>
              <a:rPr lang="en-US" baseline="-25000"/>
              <a:t>M</a:t>
            </a:r>
            <a:r>
              <a:rPr lang="en-US"/>
              <a:t>N)</a:t>
            </a:r>
          </a:p>
          <a:p>
            <a:pPr marL="0" indent="0">
              <a:buNone/>
            </a:pPr>
            <a:r>
              <a:rPr lang="en-US"/>
              <a:t>   Worst – O(N</a:t>
            </a:r>
            <a:r>
              <a:rPr lang="en-US" baseline="30000"/>
              <a:t>2</a:t>
            </a:r>
            <a:r>
              <a:rPr lang="en-US"/>
              <a:t>MD)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SPACE</a:t>
            </a:r>
          </a:p>
          <a:p>
            <a:pPr marL="0" indent="0">
              <a:buNone/>
            </a:pPr>
            <a:r>
              <a:rPr lang="en-US"/>
              <a:t>   Expected – O(ND+M</a:t>
            </a:r>
            <a:r>
              <a:rPr lang="en-US" baseline="30000"/>
              <a:t>2</a:t>
            </a:r>
            <a:r>
              <a:rPr lang="en-US"/>
              <a:t>)</a:t>
            </a:r>
          </a:p>
          <a:p>
            <a:pPr marL="0" indent="0">
              <a:buNone/>
            </a:pPr>
            <a:r>
              <a:rPr lang="en-US"/>
              <a:t>   Worst – O(ND+M</a:t>
            </a:r>
            <a:r>
              <a:rPr lang="en-US" baseline="30000"/>
              <a:t>2</a:t>
            </a:r>
            <a:r>
              <a:rPr lang="en-US"/>
              <a:t>)</a:t>
            </a:r>
          </a:p>
          <a:p>
            <a:endParaRPr lang="en-IN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2B5B54-FDAF-2843-FACC-4A6415A10C8D}"/>
              </a:ext>
            </a:extLst>
          </p:cNvPr>
          <p:cNvSpPr txBox="1">
            <a:spLocks/>
          </p:cNvSpPr>
          <p:nvPr/>
        </p:nvSpPr>
        <p:spPr>
          <a:xfrm>
            <a:off x="6096000" y="2506662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TIME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   Expected – O(MD log</a:t>
            </a:r>
            <a:r>
              <a:rPr lang="en-US" baseline="-25000"/>
              <a:t>M</a:t>
            </a:r>
            <a:r>
              <a:rPr lang="en-US"/>
              <a:t>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   Worst – O(ND)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r>
              <a:rPr lang="en-US"/>
              <a:t>SPACE</a:t>
            </a:r>
          </a:p>
          <a:p>
            <a:pPr marL="0" indent="0">
              <a:buNone/>
            </a:pPr>
            <a:r>
              <a:rPr lang="en-US"/>
              <a:t>   Expected – O(log</a:t>
            </a:r>
            <a:r>
              <a:rPr lang="en-US" baseline="-25000"/>
              <a:t>M</a:t>
            </a:r>
            <a:r>
              <a:rPr lang="en-US"/>
              <a:t>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   Worst – O(N)</a:t>
            </a:r>
          </a:p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410C2F-E503-48D9-B503-90D86C7FBEC1}"/>
              </a:ext>
            </a:extLst>
          </p:cNvPr>
          <p:cNvSpPr txBox="1"/>
          <p:nvPr/>
        </p:nvSpPr>
        <p:spPr>
          <a:xfrm>
            <a:off x="2916494" y="1618317"/>
            <a:ext cx="1101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BUILD</a:t>
            </a:r>
            <a:endParaRPr lang="en-IN" sz="2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C27A7A-BF09-053C-9926-C2F13EE53008}"/>
              </a:ext>
            </a:extLst>
          </p:cNvPr>
          <p:cNvSpPr txBox="1"/>
          <p:nvPr/>
        </p:nvSpPr>
        <p:spPr>
          <a:xfrm>
            <a:off x="8174295" y="1611641"/>
            <a:ext cx="1402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SEARCH</a:t>
            </a:r>
            <a:endParaRPr lang="en-IN" sz="2800"/>
          </a:p>
        </p:txBody>
      </p:sp>
    </p:spTree>
    <p:extLst>
      <p:ext uri="{BB962C8B-B14F-4D97-AF65-F5344CB8AC3E}">
        <p14:creationId xmlns:p14="http://schemas.microsoft.com/office/powerpoint/2010/main" val="3328365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73939-004D-1CBB-EBF8-7F6C35509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2766218"/>
            <a:ext cx="10515600" cy="1325563"/>
          </a:xfrm>
        </p:spPr>
        <p:txBody>
          <a:bodyPr/>
          <a:lstStyle/>
          <a:p>
            <a:pPr algn="ctr"/>
            <a:r>
              <a:rPr lang="en-US" b="1"/>
              <a:t>SOME STATS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3405018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5F963-3AB2-2194-A54F-30C87C4D0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BUILD AND SEARCH TIMES (N = 200)</a:t>
            </a:r>
            <a:endParaRPr lang="en-IN" b="1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E026D0-F221-D600-873E-5A2FB5A129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3461059"/>
              </p:ext>
            </p:extLst>
          </p:nvPr>
        </p:nvGraphicFramePr>
        <p:xfrm>
          <a:off x="838200" y="2100928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42490707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569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87470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7344699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330641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DIMENSIONS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Pivoting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Reusing Pivots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Max Separation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GNAT (M=4)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26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491.72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406.32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559.7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291.17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66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482.26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428.77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6731.06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441.34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31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511.94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748.67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891.17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683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1085.56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1098.78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1457.97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31273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02CF747-EFA2-1143-8F74-7972508E4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758583"/>
              </p:ext>
            </p:extLst>
          </p:nvPr>
        </p:nvGraphicFramePr>
        <p:xfrm>
          <a:off x="615744" y="4638675"/>
          <a:ext cx="1096051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752">
                  <a:extLst>
                    <a:ext uri="{9D8B030D-6E8A-4147-A177-3AD203B41FA5}">
                      <a16:colId xmlns:a16="http://schemas.microsoft.com/office/drawing/2014/main" val="523354313"/>
                    </a:ext>
                  </a:extLst>
                </a:gridCol>
                <a:gridCol w="1826752">
                  <a:extLst>
                    <a:ext uri="{9D8B030D-6E8A-4147-A177-3AD203B41FA5}">
                      <a16:colId xmlns:a16="http://schemas.microsoft.com/office/drawing/2014/main" val="2031598237"/>
                    </a:ext>
                  </a:extLst>
                </a:gridCol>
                <a:gridCol w="1826752">
                  <a:extLst>
                    <a:ext uri="{9D8B030D-6E8A-4147-A177-3AD203B41FA5}">
                      <a16:colId xmlns:a16="http://schemas.microsoft.com/office/drawing/2014/main" val="680602865"/>
                    </a:ext>
                  </a:extLst>
                </a:gridCol>
                <a:gridCol w="1826752">
                  <a:extLst>
                    <a:ext uri="{9D8B030D-6E8A-4147-A177-3AD203B41FA5}">
                      <a16:colId xmlns:a16="http://schemas.microsoft.com/office/drawing/2014/main" val="2646012756"/>
                    </a:ext>
                  </a:extLst>
                </a:gridCol>
                <a:gridCol w="1826752">
                  <a:extLst>
                    <a:ext uri="{9D8B030D-6E8A-4147-A177-3AD203B41FA5}">
                      <a16:colId xmlns:a16="http://schemas.microsoft.com/office/drawing/2014/main" val="3298504432"/>
                    </a:ext>
                  </a:extLst>
                </a:gridCol>
                <a:gridCol w="1826752">
                  <a:extLst>
                    <a:ext uri="{9D8B030D-6E8A-4147-A177-3AD203B41FA5}">
                      <a16:colId xmlns:a16="http://schemas.microsoft.com/office/drawing/2014/main" val="27929527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DIMENSIONS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Pivoting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Reusing Pivots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Max Separation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GNAT (M=4)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Brute Force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55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26.96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23.13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30.69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15.35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275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34.45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31.66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23.17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23.17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302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67.96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65.24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30.16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028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101.16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100.93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74.56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150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2608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C7AAEBC-1190-71A2-4EDE-E31163971773}"/>
              </a:ext>
            </a:extLst>
          </p:cNvPr>
          <p:cNvSpPr txBox="1"/>
          <p:nvPr/>
        </p:nvSpPr>
        <p:spPr>
          <a:xfrm>
            <a:off x="4419598" y="1515326"/>
            <a:ext cx="3991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Build Times (in microseconds)</a:t>
            </a:r>
            <a:endParaRPr lang="en-IN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899EE0-FDFF-FAF4-E8C5-A424D6C0FAD9}"/>
              </a:ext>
            </a:extLst>
          </p:cNvPr>
          <p:cNvSpPr txBox="1"/>
          <p:nvPr/>
        </p:nvSpPr>
        <p:spPr>
          <a:xfrm>
            <a:off x="5407741" y="4066069"/>
            <a:ext cx="2015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Search Times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925250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3B4C-AC6F-C84E-2BD5-DCD033E9A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208" y="0"/>
            <a:ext cx="6281584" cy="67663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/>
              <a:t>BUILD TIMES (w.r.t. N) D = 10</a:t>
            </a:r>
            <a:endParaRPr lang="en-IN" b="1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0612E9-6E5E-4B9A-FFCF-C35B0F6B67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58" y="560439"/>
            <a:ext cx="10982957" cy="6373627"/>
          </a:xfrm>
        </p:spPr>
      </p:pic>
    </p:spTree>
    <p:extLst>
      <p:ext uri="{BB962C8B-B14F-4D97-AF65-F5344CB8AC3E}">
        <p14:creationId xmlns:p14="http://schemas.microsoft.com/office/powerpoint/2010/main" val="2548859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8AE9D-5996-D9AD-624F-27A4346EF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640" y="-9832"/>
            <a:ext cx="6566719" cy="67709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/>
              <a:t>SEARCH TIMES (w.r.t N) D = 10</a:t>
            </a:r>
            <a:endParaRPr lang="en-IN" b="1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91EC17-5486-0766-D813-5AACCA36F6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55" y="580103"/>
            <a:ext cx="10960964" cy="6360864"/>
          </a:xfrm>
        </p:spPr>
      </p:pic>
    </p:spTree>
    <p:extLst>
      <p:ext uri="{BB962C8B-B14F-4D97-AF65-F5344CB8AC3E}">
        <p14:creationId xmlns:p14="http://schemas.microsoft.com/office/powerpoint/2010/main" val="1371594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21F1A-7D28-830E-EAAD-A2E698D8B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2196" y="0"/>
            <a:ext cx="7027607" cy="72625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/>
              <a:t>BUILD TIMES (w.r.t. D) N = 2000</a:t>
            </a:r>
            <a:endParaRPr lang="en-IN" b="1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8F5C44-6703-9115-C8E1-0CF761A370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87" y="634647"/>
            <a:ext cx="10432026" cy="6223353"/>
          </a:xfrm>
        </p:spPr>
      </p:pic>
    </p:spTree>
    <p:extLst>
      <p:ext uri="{BB962C8B-B14F-4D97-AF65-F5344CB8AC3E}">
        <p14:creationId xmlns:p14="http://schemas.microsoft.com/office/powerpoint/2010/main" val="2290089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C7C3-2EF0-BB21-C9D5-197AB3779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1642" y="0"/>
            <a:ext cx="7548716" cy="696759"/>
          </a:xfrm>
        </p:spPr>
        <p:txBody>
          <a:bodyPr/>
          <a:lstStyle/>
          <a:p>
            <a:pPr algn="ctr"/>
            <a:r>
              <a:rPr lang="en-US" b="1"/>
              <a:t>SEARCH TIMES(w.r.t. D) N = 2000</a:t>
            </a:r>
            <a:endParaRPr lang="en-IN" b="1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FB6C99-529E-B436-B6E8-E5811ED057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748" y="671349"/>
            <a:ext cx="10370503" cy="6186651"/>
          </a:xfrm>
        </p:spPr>
      </p:pic>
    </p:spTree>
    <p:extLst>
      <p:ext uri="{BB962C8B-B14F-4D97-AF65-F5344CB8AC3E}">
        <p14:creationId xmlns:p14="http://schemas.microsoft.com/office/powerpoint/2010/main" val="1498543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A5DFD-2919-CCC5-0D10-3E0A86F9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SOME OBSERVATIONS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AE1AD-C9B8-3970-6CB9-343CD1721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How many pivots are used? N = 2000</a:t>
            </a:r>
          </a:p>
          <a:p>
            <a:pPr marL="0" indent="0">
              <a:buNone/>
            </a:pPr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969A01-1663-4BD2-4A88-04977C76C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438736"/>
              </p:ext>
            </p:extLst>
          </p:nvPr>
        </p:nvGraphicFramePr>
        <p:xfrm>
          <a:off x="993058" y="2400980"/>
          <a:ext cx="10205884" cy="2633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471">
                  <a:extLst>
                    <a:ext uri="{9D8B030D-6E8A-4147-A177-3AD203B41FA5}">
                      <a16:colId xmlns:a16="http://schemas.microsoft.com/office/drawing/2014/main" val="308189213"/>
                    </a:ext>
                  </a:extLst>
                </a:gridCol>
                <a:gridCol w="2551471">
                  <a:extLst>
                    <a:ext uri="{9D8B030D-6E8A-4147-A177-3AD203B41FA5}">
                      <a16:colId xmlns:a16="http://schemas.microsoft.com/office/drawing/2014/main" val="4141304368"/>
                    </a:ext>
                  </a:extLst>
                </a:gridCol>
                <a:gridCol w="2551471">
                  <a:extLst>
                    <a:ext uri="{9D8B030D-6E8A-4147-A177-3AD203B41FA5}">
                      <a16:colId xmlns:a16="http://schemas.microsoft.com/office/drawing/2014/main" val="2254790320"/>
                    </a:ext>
                  </a:extLst>
                </a:gridCol>
                <a:gridCol w="2551471">
                  <a:extLst>
                    <a:ext uri="{9D8B030D-6E8A-4147-A177-3AD203B41FA5}">
                      <a16:colId xmlns:a16="http://schemas.microsoft.com/office/drawing/2014/main" val="4239422000"/>
                    </a:ext>
                  </a:extLst>
                </a:gridCol>
              </a:tblGrid>
              <a:tr h="526627">
                <a:tc>
                  <a:txBody>
                    <a:bodyPr/>
                    <a:lstStyle/>
                    <a:p>
                      <a:r>
                        <a:rPr lang="en-US"/>
                        <a:t>DIMENSIONS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Pivoting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Reusing Pivot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GNAT (M=4)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454325"/>
                  </a:ext>
                </a:extLst>
              </a:tr>
              <a:tr h="526627"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977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488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1071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155635"/>
                  </a:ext>
                </a:extLst>
              </a:tr>
              <a:tr h="526627"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960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1069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481145"/>
                  </a:ext>
                </a:extLst>
              </a:tr>
              <a:tr h="526627">
                <a:tc>
                  <a:txBody>
                    <a:bodyPr/>
                    <a:lstStyle/>
                    <a:p>
                      <a:r>
                        <a:rPr lang="en-US"/>
                        <a:t>50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944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472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1069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842295"/>
                  </a:ext>
                </a:extLst>
              </a:tr>
              <a:tr h="526627"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936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468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1068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6231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7C90A8-5594-7C10-81E0-B08E8F3711EC}"/>
              </a:ext>
            </a:extLst>
          </p:cNvPr>
          <p:cNvSpPr txBox="1"/>
          <p:nvPr/>
        </p:nvSpPr>
        <p:spPr>
          <a:xfrm>
            <a:off x="993058" y="5123708"/>
            <a:ext cx="63934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Curse of Dimensionality</a:t>
            </a:r>
          </a:p>
          <a:p>
            <a:r>
              <a:rPr lang="en-US" sz="2400"/>
              <a:t>(is it a curse, though?)</a:t>
            </a:r>
          </a:p>
        </p:txBody>
      </p:sp>
    </p:spTree>
    <p:extLst>
      <p:ext uri="{BB962C8B-B14F-4D97-AF65-F5344CB8AC3E}">
        <p14:creationId xmlns:p14="http://schemas.microsoft.com/office/powerpoint/2010/main" val="3505392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C81A1-A3B7-E02A-1240-C1E0378B6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SOME OBSERVATIONS</a:t>
            </a:r>
            <a:endParaRPr lang="en-IN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A82A16-7726-0AAD-FC67-9958ADC8E8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Which type of distance returns the actual neighbour?</a:t>
                </a:r>
              </a:p>
              <a:p>
                <a:pPr marL="0" indent="0">
                  <a:buNone/>
                </a:pPr>
                <a:endParaRPr lang="en-IN"/>
              </a:p>
              <a:p>
                <a:pPr marL="0" indent="0">
                  <a:buNone/>
                </a:pPr>
                <a:r>
                  <a:rPr lang="en-IN"/>
                  <a:t>   We (definitely) know these relations between ∞ , 1 and 2-norms.</a:t>
                </a:r>
              </a:p>
              <a:p>
                <a:pPr marL="0" indent="0">
                  <a:buNone/>
                </a:pPr>
                <a:endParaRPr lang="en-IN"/>
              </a:p>
              <a:p>
                <a:pPr marL="0" indent="0">
                  <a:buNone/>
                </a:pPr>
                <a:r>
                  <a:rPr lang="en-IN"/>
                  <a:t>   ∥x∥</a:t>
                </a:r>
                <a:r>
                  <a:rPr lang="en-IN" baseline="-25000"/>
                  <a:t>∞ </a:t>
                </a:r>
                <a:r>
                  <a:rPr lang="en-IN"/>
                  <a:t>​≤  ∥x∥</a:t>
                </a:r>
                <a:r>
                  <a:rPr lang="en-IN" baseline="-25000"/>
                  <a:t>2</a:t>
                </a:r>
                <a:r>
                  <a:rPr lang="en-IN"/>
                  <a:t>​  ≤  </a:t>
                </a:r>
                <a:r>
                  <a:rPr lang="en-IN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√</a:t>
                </a:r>
                <a:r>
                  <a:rPr lang="en-IN"/>
                  <a:t>n​∥x∥</a:t>
                </a:r>
                <a:r>
                  <a:rPr lang="en-IN" baseline="-25000"/>
                  <a:t>∞​</a:t>
                </a:r>
              </a:p>
              <a:p>
                <a:pPr marL="0" indent="0">
                  <a:buNone/>
                </a:pPr>
                <a:r>
                  <a:rPr lang="en-IN"/>
                  <a:t>   ∥x∥</a:t>
                </a:r>
                <a:r>
                  <a:rPr lang="en-IN" baseline="-25000"/>
                  <a:t>2   </a:t>
                </a:r>
                <a:r>
                  <a:rPr lang="en-IN"/>
                  <a:t>​≤  ∥x∥</a:t>
                </a:r>
                <a:r>
                  <a:rPr lang="en-IN" baseline="-25000"/>
                  <a:t>1   </a:t>
                </a:r>
                <a:r>
                  <a:rPr lang="en-IN"/>
                  <a:t>​≤ 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</m:t>
                    </m:r>
                  </m:oMath>
                </a14:m>
                <a:r>
                  <a:rPr lang="en-IN"/>
                  <a:t>n​∥x∥</a:t>
                </a:r>
                <a:r>
                  <a:rPr lang="en-IN" baseline="-25000"/>
                  <a:t>2</a:t>
                </a:r>
                <a:r>
                  <a:rPr lang="en-IN"/>
                  <a:t>​</a:t>
                </a:r>
              </a:p>
              <a:p>
                <a:pPr marL="0" indent="0">
                  <a:buNone/>
                </a:pPr>
                <a:r>
                  <a:rPr lang="en-IN"/>
                  <a:t>   ∥x∥​</a:t>
                </a:r>
                <a:r>
                  <a:rPr lang="en-IN" baseline="-25000"/>
                  <a:t>∞  </a:t>
                </a:r>
                <a:r>
                  <a:rPr lang="en-IN"/>
                  <a:t>≤  ∥x∥</a:t>
                </a:r>
                <a:r>
                  <a:rPr lang="en-IN" baseline="-25000"/>
                  <a:t>1</a:t>
                </a:r>
                <a:r>
                  <a:rPr lang="en-IN"/>
                  <a:t> ​ ≤  n∥x∥</a:t>
                </a:r>
                <a:r>
                  <a:rPr lang="en-IN" baseline="-25000"/>
                  <a:t>∞</a:t>
                </a:r>
                <a:r>
                  <a:rPr lang="en-IN"/>
                  <a:t>​</a:t>
                </a: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A82A16-7726-0AAD-FC67-9958ADC8E8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D739487-4A58-8D80-5EEC-7100CFFEADBC}"/>
              </a:ext>
            </a:extLst>
          </p:cNvPr>
          <p:cNvSpPr txBox="1"/>
          <p:nvPr/>
        </p:nvSpPr>
        <p:spPr>
          <a:xfrm>
            <a:off x="1071716" y="5422300"/>
            <a:ext cx="84459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/>
              <a:t>Corollary – No of pivots increases as we go from  ∞ to 1, and 1 to 2-norms.</a:t>
            </a:r>
          </a:p>
        </p:txBody>
      </p:sp>
    </p:spTree>
    <p:extLst>
      <p:ext uri="{BB962C8B-B14F-4D97-AF65-F5344CB8AC3E}">
        <p14:creationId xmlns:p14="http://schemas.microsoft.com/office/powerpoint/2010/main" val="1694739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441FB-2BBC-E75D-00B9-04E1018E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9690" y="2860406"/>
            <a:ext cx="8052620" cy="1137188"/>
          </a:xfrm>
        </p:spPr>
        <p:txBody>
          <a:bodyPr>
            <a:noAutofit/>
          </a:bodyPr>
          <a:lstStyle/>
          <a:p>
            <a:r>
              <a:rPr lang="en-US" sz="6600" b="1"/>
              <a:t>BATTLE OF THE TREES</a:t>
            </a:r>
            <a:endParaRPr lang="en-IN" sz="6600" b="1"/>
          </a:p>
        </p:txBody>
      </p:sp>
    </p:spTree>
    <p:extLst>
      <p:ext uri="{BB962C8B-B14F-4D97-AF65-F5344CB8AC3E}">
        <p14:creationId xmlns:p14="http://schemas.microsoft.com/office/powerpoint/2010/main" val="3906488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8CBE5-B539-8576-CAAA-3D951315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GHT vs K-d Trees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D6EF6-A6D1-0324-13AD-5A78B12AD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K-d trees rely on </a:t>
            </a:r>
            <a:r>
              <a:rPr lang="en-US" b="1"/>
              <a:t>coordinate projections</a:t>
            </a:r>
            <a:r>
              <a:rPr lang="en-US"/>
              <a:t>, which become meaningless in high dimensions.</a:t>
            </a:r>
          </a:p>
          <a:p>
            <a:r>
              <a:rPr lang="en-US"/>
              <a:t>GHTs use </a:t>
            </a:r>
            <a:r>
              <a:rPr lang="en-US" b="1"/>
              <a:t>relative distances</a:t>
            </a:r>
            <a:r>
              <a:rPr lang="en-US"/>
              <a:t>, where triangle inequality still helpsto prune.</a:t>
            </a:r>
          </a:p>
          <a:p>
            <a:r>
              <a:rPr lang="en-US"/>
              <a:t>K-d trees work on vector spaces, while GHT’s can be used on more variety of data, as long as a metric is defined.</a:t>
            </a:r>
          </a:p>
          <a:p>
            <a:r>
              <a:rPr lang="en-US"/>
              <a:t>K-d trees are strictly dependent on dimensionality. GHT’s can avoid that by defining a proper metric.</a:t>
            </a:r>
          </a:p>
        </p:txBody>
      </p:sp>
    </p:spTree>
    <p:extLst>
      <p:ext uri="{BB962C8B-B14F-4D97-AF65-F5344CB8AC3E}">
        <p14:creationId xmlns:p14="http://schemas.microsoft.com/office/powerpoint/2010/main" val="594384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0B5A8-9844-9E8D-4755-8A31FEE74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CASE STUDY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966B5-95FF-3948-24C4-110E6E09E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Consider strings composed of English letters.</a:t>
            </a:r>
          </a:p>
          <a:p>
            <a:r>
              <a:rPr lang="en-US"/>
              <a:t>K-d trees – need to use word embeddings (very high dimensionality)</a:t>
            </a:r>
          </a:p>
          <a:p>
            <a:r>
              <a:rPr lang="en-US"/>
              <a:t>GHT – only need a distance function</a:t>
            </a:r>
          </a:p>
          <a:p>
            <a:r>
              <a:rPr lang="en-US"/>
              <a:t>Levenshstein Distance - Minimum total cost needed to transform one string into the other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84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112BD-466B-89A4-9A16-F01159F5C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GHT VS VANTAGE POINT TREES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6836E-8DD1-7E80-CA3E-05BFAC414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r>
              <a:rPr lang="en-US"/>
              <a:t>VPT’s fail when data has multiple clusters.</a:t>
            </a:r>
          </a:p>
          <a:p>
            <a:r>
              <a:rPr lang="en-US"/>
              <a:t>VPT’s do not work well on elongated datasets.</a:t>
            </a:r>
          </a:p>
          <a:p>
            <a:r>
              <a:rPr lang="en-US"/>
              <a:t>Main problem VPT’s suffer with – spherical geometry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684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7E9A2-9163-1B5E-A178-022258315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REFERENCES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C1650-9973-A8AE-465B-BF4245594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Dohnal, Vlastislav. (2004). Indexing Structures for Searching in Metric Spaces.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354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300</TotalTime>
  <Words>879</Words>
  <Application>Microsoft Office PowerPoint</Application>
  <PresentationFormat>Widescreen</PresentationFormat>
  <Paragraphs>196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Google Sans Text</vt:lpstr>
      <vt:lpstr>Wingdings</vt:lpstr>
      <vt:lpstr>Office Theme</vt:lpstr>
      <vt:lpstr>Searching in Metric Spaces</vt:lpstr>
      <vt:lpstr>GENERALISED HYPERPLANE TREES</vt:lpstr>
      <vt:lpstr>DATASET – [3, 11, 1, 5, 7, 9, 2, 6, 4, 10, 74, 59]</vt:lpstr>
      <vt:lpstr>SEARCHING FOR A NEIGHBOUR</vt:lpstr>
      <vt:lpstr>TIME AND SPACE TO BUILD</vt:lpstr>
      <vt:lpstr>TIME AND SPACE TO SEARCH</vt:lpstr>
      <vt:lpstr>INSERTING AND DELETING</vt:lpstr>
      <vt:lpstr>FACTORS AFFECTING GHT’s</vt:lpstr>
      <vt:lpstr>SOME VARIATIONS OF GHT’s</vt:lpstr>
      <vt:lpstr>GEOMETRIC NEAR-NEIGHBOUR ACCESS TREES</vt:lpstr>
      <vt:lpstr>BUILD AND SEARCH TIMES FOR GNAT</vt:lpstr>
      <vt:lpstr>SOME STATS</vt:lpstr>
      <vt:lpstr>BUILD AND SEARCH TIMES (N = 200)</vt:lpstr>
      <vt:lpstr>BUILD TIMES (w.r.t. N) D = 10</vt:lpstr>
      <vt:lpstr>SEARCH TIMES (w.r.t N) D = 10</vt:lpstr>
      <vt:lpstr>BUILD TIMES (w.r.t. D) N = 2000</vt:lpstr>
      <vt:lpstr>SEARCH TIMES(w.r.t. D) N = 2000</vt:lpstr>
      <vt:lpstr>SOME OBSERVATIONS</vt:lpstr>
      <vt:lpstr>SOME OBSERVATIONS</vt:lpstr>
      <vt:lpstr>BATTLE OF THE TREES</vt:lpstr>
      <vt:lpstr>GHT vs K-d Trees</vt:lpstr>
      <vt:lpstr>CASE STUDY</vt:lpstr>
      <vt:lpstr>GHT VS VANTAGE POINT TREES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Saransh Yadav</dc:creator>
  <cp:lastModifiedBy>Saransh Yadav</cp:lastModifiedBy>
  <cp:revision>9</cp:revision>
  <dcterms:created xsi:type="dcterms:W3CDTF">2025-11-24T12:25:49Z</dcterms:created>
  <dcterms:modified xsi:type="dcterms:W3CDTF">2025-11-24T18:14:57Z</dcterms:modified>
</cp:coreProperties>
</file>